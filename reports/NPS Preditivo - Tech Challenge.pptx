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/>
      <p:bold r:id="rId10"/>
    </p:embeddedFont>
    <p:embeddedFont>
      <p:font typeface="Plus Jakarta Sans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1445121"/>
            <a:ext cx="609600" cy="381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1788021"/>
            <a:ext cx="11049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Plus Jakarta Sans"/>
              </a:rPr>
              <a:t>TECH CHALLENGE • FASE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216646"/>
            <a:ext cx="9101137" cy="2262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1" i="0" u="none">
                <a:solidFill>
                  <a:srgbClr val="FFFFFF"/>
                </a:solidFill>
                <a:latin typeface="Plus Jakarta Sans"/>
              </a:rPr>
              <a:t>NPS Preditivo:</a:t>
            </a:r>
            <a:r>
              <a:t>
</a:t>
            </a:r>
            <a:r>
              <a:rPr sz="5400" b="1" i="0" u="none">
                <a:solidFill>
                  <a:srgbClr val="FFFFFF"/>
                </a:solidFill>
                <a:latin typeface="Plus Jakarta Sans"/>
              </a:rPr>
              <a:t> Antecipando a Experiência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784228"/>
            <a:ext cx="5810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Estratégias orientadas a dados para transformar a gestão de satisfação de reativa para proativa.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668809"/>
            <a:ext cx="6667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338CA"/>
                </a:solidFill>
                <a:latin typeface="Plus Jakarta Sans"/>
              </a:rPr>
              <a:t>O CONTEXTO DE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992659"/>
            <a:ext cx="5700712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Plus Jakarta Sans"/>
              </a:rPr>
              <a:t>O Paradoxo do Crescimento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303240"/>
            <a:ext cx="5429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Ganhos de escala expuseram alta variabilidade na lealdade.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103340"/>
            <a:ext cx="5429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NPS coletado exclusivamente após o encerramento da jornada.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903440"/>
            <a:ext cx="66675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Atuação da empresa é puramente reativa.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827014"/>
            <a:ext cx="762000" cy="76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055614"/>
            <a:ext cx="3048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0296" y="2970014"/>
            <a:ext cx="11251406" cy="12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200" b="1" i="0" u="none">
                <a:solidFill>
                  <a:srgbClr val="0F172A"/>
                </a:solidFill>
                <a:latin typeface="Plus Jakarta Sans"/>
              </a:rPr>
              <a:t>Como agir proativamente antes da avaliação do cliente?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4478535"/>
            <a:ext cx="83343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475569"/>
                </a:solidFill>
                <a:latin typeface="Inter"/>
              </a:rPr>
              <a:t>Transformando dados logísticos vivos em alertas de contenção de risco.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955726"/>
            <a:ext cx="3352800" cy="2365771"/>
          </a:xfrm>
          <a:prstGeom prst="roundRect">
            <a:avLst>
              <a:gd name="adj" fmla="val 64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2835771"/>
            <a:ext cx="3352800" cy="2605682"/>
          </a:xfrm>
          <a:prstGeom prst="roundRect">
            <a:avLst>
              <a:gd name="adj" fmla="val 58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35771"/>
            <a:ext cx="3352800" cy="2605682"/>
          </a:xfrm>
          <a:prstGeom prst="roundRect">
            <a:avLst>
              <a:gd name="adj" fmla="val 58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412926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3292971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292971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338CA"/>
                </a:solidFill>
                <a:latin typeface="Plus Jakarta Sans"/>
              </a:rPr>
              <a:t>INSIGHTS EXPLORATÓRIOS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085850"/>
            <a:ext cx="11430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A Anatomia da Detração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946326"/>
            <a:ext cx="36004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Ponto de Ruptura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384476"/>
            <a:ext cx="28384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Queda abrupta na nota no primeiro dia de atraso.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3826371"/>
            <a:ext cx="36004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Esforço do Cliente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400" y="4264521"/>
            <a:ext cx="28384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Múltiplas reclamações consolidam o perfil detrator imeditamente.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3826371"/>
            <a:ext cx="36004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Resolução Lenta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4264521"/>
            <a:ext cx="28384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Demora no suporte anula completamente as entregas rápidas.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57875" y="3481387"/>
            <a:ext cx="19050" cy="1143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29062" y="2043112"/>
            <a:ext cx="568821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Plus Jakarta Sans"/>
              </a:rPr>
              <a:t>Os Vilões da Satisfação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85912" y="3290887"/>
            <a:ext cx="3476625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 u="none">
                <a:solidFill>
                  <a:srgbClr val="EF4444"/>
                </a:solidFill>
                <a:latin typeface="Plus Jakarta Sans"/>
              </a:rPr>
              <a:t>-0.60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35943" y="4357687"/>
            <a:ext cx="29765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Inter"/>
              </a:rPr>
              <a:t>Forte correlação negativa com atrasos na entrega.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5112" y="3290887"/>
            <a:ext cx="4048125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 u="none">
                <a:solidFill>
                  <a:srgbClr val="F97316"/>
                </a:solidFill>
                <a:latin typeface="Plus Jakarta Sans"/>
              </a:rPr>
              <a:t>+2 Dias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0893" y="4357687"/>
            <a:ext cx="29765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Inter"/>
              </a:rPr>
              <a:t>Tempo extra de resolução associado a detratores.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23925" y="22574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23925" y="32289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3925" y="42005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338CA"/>
                </a:solidFill>
                <a:latin typeface="Plus Jakarta Sans"/>
              </a:rPr>
              <a:t>PLANO DE 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085850"/>
            <a:ext cx="11430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Recomendações Práticas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6850" y="2181225"/>
            <a:ext cx="107251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1. Deploy Preditivo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6850" y="2543175"/>
            <a:ext cx="107251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Alertas automáticos para pedidos em trânsito.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6850" y="3152775"/>
            <a:ext cx="107251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2. Contenção CX Preventiva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6850" y="3514725"/>
            <a:ext cx="107251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Contato e estorno de frete antes da pesquisa.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24325"/>
            <a:ext cx="107251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3. Adequação de Malha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6850" y="4486275"/>
            <a:ext cx="107251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Revisão imediata de prazos na região Centro-Oeste.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52737"/>
            <a:ext cx="2286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671887"/>
            <a:ext cx="2857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491037"/>
            <a:ext cx="2286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0" y="1881187"/>
            <a:ext cx="6096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Gestão de Risco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0" y="2824162"/>
            <a:ext cx="521315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Falsos Positivos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3138487"/>
            <a:ext cx="4964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Acionamentos desnecessários da equipe de CX.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0350" y="3643312"/>
            <a:ext cx="55816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Variáveis Ocultas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3957637"/>
            <a:ext cx="5441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Qualidade do produto e concorrência não mapeados.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4462462"/>
            <a:ext cx="530066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Degradação de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4776787"/>
            <a:ext cx="5048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Necessidade de reciclagem periódica do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67400" y="3935610"/>
            <a:ext cx="457200" cy="381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158007" y="2274689"/>
            <a:ext cx="7875984" cy="12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200" b="1" i="0" u="none">
                <a:solidFill>
                  <a:srgbClr val="FFFFFF"/>
                </a:solidFill>
                <a:latin typeface="Plus Jakarta Sans"/>
              </a:rPr>
              <a:t>A antecipação é a nova</a:t>
            </a:r>
            <a:r>
              <a:t>
</a:t>
            </a:r>
            <a:r>
              <a:rPr sz="4200" b="1" i="0" u="none">
                <a:solidFill>
                  <a:srgbClr val="FFFFFF"/>
                </a:solidFill>
                <a:latin typeface="Plus Jakarta Sans"/>
              </a:rPr>
              <a:t> métrica de sucesso.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10212" y="4354710"/>
            <a:ext cx="11715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Inter"/>
              </a:rPr>
              <a:t>Obrigado.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235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Inter</vt:lpstr>
      <vt:lpstr>Calibri</vt:lpstr>
      <vt:lpstr>Plus Jakarta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Rafaela Rennó Pinto</dc:creator>
  <cp:keywords/>
  <dc:description>generated using python-pptx</dc:description>
  <cp:lastModifiedBy>Rafaela Rennó Pinto</cp:lastModifiedBy>
  <cp:revision>2</cp:revision>
  <dcterms:created xsi:type="dcterms:W3CDTF">2013-01-27T09:14:16Z</dcterms:created>
  <dcterms:modified xsi:type="dcterms:W3CDTF">2026-10-13T21:34:40Z</dcterms:modified>
  <cp:category/>
</cp:coreProperties>
</file>